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Inversión CLP</c:v>
                </c:pt>
              </c:strCache>
            </c:strRef>
          </c:tx>
          <c:cat>
            <c:strRef>
              <c:f>Sheet1!$A$2:$A$4</c:f>
              <c:strCache>
                <c:ptCount val="3"/>
                <c:pt idx="0">
                  <c:v>Equipamiento (80%)</c:v>
                </c:pt>
                <c:pt idx="1">
                  <c:v>Gastos Generales (15.7%)</c:v>
                </c:pt>
                <c:pt idx="2">
                  <c:v>Recursos Humanos (4.3%)</c:v>
                </c:pt>
              </c:strCache>
            </c:strRef>
          </c:cat>
          <c:val>
            <c:numRef>
              <c:f>Sheet1!$B$2:$B$4</c:f>
              <c:numCache>
                <c:formatCode>General</c:formatCode>
                <c:ptCount val="3"/>
                <c:pt idx="0">
                  <c:v>5600000</c:v>
                </c:pt>
                <c:pt idx="1">
                  <c:v>1100000</c:v>
                </c:pt>
                <c:pt idx="2">
                  <c:v>300000</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400">
              <a:latin typeface="Arial"/>
            </a:defRPr>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Índice de Nitidez (1-100)</c:v>
                </c:pt>
              </c:strCache>
            </c:strRef>
          </c:tx>
          <c:cat>
            <c:strRef>
              <c:f>Sheet1!$A$2:$A$3</c:f>
              <c:strCache>
                <c:ptCount val="2"/>
                <c:pt idx="0">
                  <c:v>Configurado 5 días</c:v>
                </c:pt>
                <c:pt idx="1">
                  <c:v>Configurado 15 días</c:v>
                </c:pt>
              </c:strCache>
            </c:strRef>
          </c:cat>
          <c:val>
            <c:numRef>
              <c:f>Sheet1!$B$2:$B$3</c:f>
              <c:numCache>
                <c:formatCode>General</c:formatCode>
                <c:ptCount val="2"/>
                <c:pt idx="0">
                  <c:v>95</c:v>
                </c:pt>
                <c:pt idx="1">
                  <c:v>30</c:v>
                </c:pt>
              </c:numCache>
            </c:numRef>
          </c:val>
        </c:ser>
        <c:ser>
          <c:idx val="1"/>
          <c:order val="1"/>
          <c:tx>
            <c:strRef>
              <c:f>Sheet1!$C$1</c:f>
              <c:strCache>
                <c:ptCount val="1"/>
                <c:pt idx="0">
                  <c:v>FPS (Fotogramas x seg)</c:v>
                </c:pt>
              </c:strCache>
            </c:strRef>
          </c:tx>
          <c:cat>
            <c:strRef>
              <c:f>Sheet1!$A$2:$A$3</c:f>
              <c:strCache>
                <c:ptCount val="2"/>
                <c:pt idx="0">
                  <c:v>Configurado 5 días</c:v>
                </c:pt>
                <c:pt idx="1">
                  <c:v>Configurado 15 días</c:v>
                </c:pt>
              </c:strCache>
            </c:strRef>
          </c:cat>
          <c:val>
            <c:numRef>
              <c:f>Sheet1!$C$2:$C$3</c:f>
              <c:numCache>
                <c:formatCode>General</c:formatCode>
                <c:ptCount val="2"/>
                <c:pt idx="0">
                  <c:v>25</c:v>
                </c:pt>
                <c:pt idx="1">
                  <c:v>8</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txPr>
        <a:bodyPr/>
        <a:lstStyle/>
        <a:p>
          <a:pPr>
            <a:defRPr sz="14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Muy buenas tardes a todos los vecinos y vecinas, a la directiva de nuestra Junta de Vecinos y a los representantes del GORE. Es un orgullo presentarles de forma oficial y detallada el cierre del proyecto 'Protegiendo Vista al Mar', código 2024SCXXXX, financiado por el GORE Biobío y desarrollado por nuestra empresa Router.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gran proyecto nace de una necesidad sentida por la comunidad. En Vista al Mar, el anhelo de tener calles transitadas con tranquilidad, donde nuestros hijos puedan jugar y nuestros adultos mayores caminen sin temor, fue el motor principal. Nos dimos cuenta de que la seguridad no es solo tarea de las policías, sino que nosotros, organizados y apoyados por la tecnología, podíamos marcar una gran diferencia.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Postulamos en abril de 2024. Durante los largos trámites y la espera del GORE, el equipo técnico y de ingeniería de Router estuvo siempre al lado de la directiva, brindando asesoría y aclarando dudas. Esta cercanía técnica cimentó una tremenda confianza y permitió que, cuando el GORE pidió documentación de última hora a fines de 2025, el equipo la formulara en tiempo récord. Los fondos llegaron en febrero de 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proyecto fue financiado con un monto total de 7 millones de pesos chilenos. Siguiendo las directrices del GORE Biobío, el presupuesto se dividió de manera óptima para maximizar el impacto en seguridad. El 80%, correspondiente a $5.600.000, se destinó íntegramente a la adquisición de la tecnología de vigilancia. El porcentaje restante financió los talleres de capacitación para la comunidad, los honorarios profesionales de nuestro experto en seguridad y los elementos de difusión para que todos en el sector sepan que Vista al Mar es ahora un barrio protegido.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asegurar que el sistema sea realmente efectivo, se contempló un taller de capacitación por $300.000 dictado por el equipo experto de Router y un Ingeniero en Prevención de Riesgos. El taller educa a los vecinos en el autocuidado, uso ético y legal de las grabaciones, y se acompaña de un coffee break para fortalecer la organización y la cohesión vecinal.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Seleccionamos cámaras IP Bullet de calidad profesional con una resolución de 4 Megapíxeles, que brindan imágenes sumamente nítidas para distinguir rostros y detalles. Tienen tecnología Smart Hybrid Light con un alcance infrarrojo de hasta 60 metros en oscuridad total. Además, cuentan con micrófonos incorporados para el registro acústico, lentes varifocales motorizadas que nos permiten regular el enfoque, y una certificación IP67 que garantiza su funcionamiento sin importar el clima o la lluvia. Todo el cableado es de cobre de la más alta calidad para garantizar que la red nunca sufra caídas de rendimiento.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viene lo más importante: este proyecto cuenta con una innovación tecnológica que marca un precedente a nivel regional e incluso nacional. En lugar de utilizar cableados tradicionales que habrían requerido romper calles y veredas, encareciendo el proyecto de manera prohibitiva, diseñamos una infraestructura de red vía streaming inalámbrico. Esto nos permitió distribuir estratégicamente 16 cámaras en diferentes puntos lejanos de la población y transmitir la señal en tiempo real sin interferencias. Además, la naturaleza nos acompañó con un clima excelente para realizar el montaje de forma rápida y segura.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mapa oficial de distribución de nuestras 16 cámaras de seguridad en la población Eduardo Frei Montalva. Como pueden observar en el plano, los puntos rojos con los conos de visión verdes y amarillos representan la ubicación exacta y la dirección de enfoque de cada cámara. Diseñamos este trazado de manera sumamente estratégica en conjunto con la directiva, priorizando los pasajes interiores, los accesos principales de la población y las esquinas clave como Barros Arana y Bilbao. De esta forma, no dejamos 'puntos ciegos' significativos en los recorridos más habituales de nuestros vecinos, garantizando una cobertura comunitaria y un fuerte efecto disuasivo en toda la zona.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una imagen vale más que mil palabras, queremos mostrarles de forma muy concreta cómo se ven nuestras cámaras instaladas y operativas en plena noche. Esta captura que ven en pantalla corresponde al sector del parque, enfocando la zona de juegos infantiles y la multicancha. Como pueden notar, gracias a la tecnología de iluminación híbrida y la resolución de 4 Megapíxeles, la imagen nocturna es sumamente nítida, brillante y con un rango de visión muy amplio. De esta manera, garantizamos que los espacios públicos donde se reúnen nuestros niños y jóvenes estén constantemente monitoreados, trayendo tranquilidad a todas las familias que viven cerca del parque.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Queremos hacer una aclaración técnica muy relevante para evitar falsas expectativas y ser 100% transparentes: estas cámaras NO leen patentes automáticas. ¿Por qué se tomó esta decisión? Un sistema lector de patentes real y homologado (tecnología LPR) cuesta hasta 10 veces más que una cámara de seguridad de alta calidad. Si hubiésemos optado por lectores de patentes, el presupuesto solo nos habría alcanzado para vigilar una o dos esquinas de la población, dejando al resto de los vecinos desprotegidos. Al elegir cámaras de alta resolución estándar de 4MP, pudimos proteger 16 puntos estratégicos. Si ocurre un incidente, igual podemos ver el auto, su color, modelo y dirección, pero la lectura automática de la placa de un vehículo en movimiento requiere otra gama de costos no viable en este tipo de fondos comunitarios.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funciona el almacenamiento de las grabaciones? Cada cámara cuenta con almacenamiento interno en tarjetas de memoria industrial de 64 Gigabytes. Técnicamente, las cámaras podrían grabar hasta 15 días en una calidad comprimida. Sin embargo, para que el sistema sea realmente útil, tomamos la decisión estratégica de configurarlas para grabar los últimos 5 días. Al acortar el rango, podemos configurarlas en la máxima resolución y calidad posible de imagen. Es mejor tener 5 días de video nítido e impecable donde se distingan bien las caras y detalles, que tener 15 días borrosos o pixelados que no sirvan como evidencia en tribunales. Las pruebas fueron exitosas y todo el sistema está rindiendo conforme a lo comprometido.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sistema de seguridad comunitario requiere una persona de absoluta confianza a cargo de los equipos para garantizar la privacidad y el uso responsable. La asamblea y la directiva han asignado formalmente esta importante labor a nuestro un vecino de absoluta confianza designado formalmente. Este custodio será el custodio técnico de la central de monitoreo, velando por que los equipos funcionen correctamente y actuando bajo un estricto principio de confidencialidad y respeto a la privacidad de todas las familias.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resguardar el derecho a la privacidad de todos los hogares, hemos diseñado un protocolo formal y transparente de acceso a las grabaciones. Las cámaras no son para 'espiar' el día a día del barrio; son para proteger. Por lo tanto, si un vecino necesita revisar una grabación debido a un robo, choque, daño o cualquier ilícito, no debe acudir directamente al Custodio Técnico. El canal correcto es presentar una solicitud formal ante la Directiva de la Junta de Vecinos. La directiva analizará el caso de forma reservada, autorizará la extracción del video de la fecha y hora indicadas, y el Custodio procesará el clip para que sea enviado de manera rápida y segura vía WhatsApp al vecino o directamente a las policías como medio de prueba para la denuncia formal.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un detalle fundamental que debemos memorizar: el plazo máximo para solicitar una grabación es de 5 días. Debido a que el sistema sobrescribe las grabaciones antiguas para mantener la mejor calidad del video, si un incidente ocurre un lunes, la directiva debe recibir la solicitud antes del viernes de esa misma semana. La solicitud debe indicar con la mayor precisión posible el día, la hora y el lugar del hecho. Con esto garantizamos un proceso ordenado, rápido y sobre todo legal ante cualquier requerimiento de los tribunales.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muy común que en estas reuniones surjan dudas. Por ejemplo, sobre el costo eléctrico: es de unos $1.200 pesos mensuales por cámara, costo que es asumido generosamente por los vecinos colaboradores que prestan la energía de sus hogares. Tampoco hay cuotas mensuales para los vecinos; el sistema es propio de la Junta. Además, las grabaciones viajan de forma segura por una red inalámbrica local y no se suben a internet. Para que el sistema dure en el tiempo, se recomienda realizar mantenciones preventivas cada 3 meses.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Nuestra empresa Router entrega una garantía técnica de 6 meses desde la recepción de la obra, respaldada por un equipo de soporte de respuesta rápida. Esto cubre desperfectos de fábrica o montaje. La garantía no cubre manipulación no autorizada, robos o vandalismo, por lo que es vital cuidar los equipos en comunidad.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abrimos la palabra para ustedes. Queremos escuchar sus consultas, sugerencias o impresiones. Ninguna pregunta es menos importante; al contrario, este es el momento para que todos nos vayamos a casa con total claridad sobre el funcionamiento de nuestra nueva red de seguridad comunitaria.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Parte integral del proyecto financiado por el GORE es la difusión. Creamos un video promocional de alta calidad que muestra el trabajo realizado, la instalación y la unión de nuestros vecinos. Les pedimos que lo compartan activamente en sus redes sociales y grupos de WhatsApp vecinales. Mientras más personas sepan que en Vista al Mar estamos organizados, coordinados y monitoreados con 16 cámaras de alta tecnología, menos delincuentes se atreverán a ingresar a nuestras calles.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apoyar a toda la comunidad de la Junta de Vecinos de Vista al Mar en su seguridad familiar, desde Router hemos preparado un beneficio exclusivo para ustedes. Se trata de una promoción especial para instalar una cámara particular en sus hogares por un valor preferencial de $90.000 pesos. Este kit contempla una cámara de alta gama Full HD, equipada con audio y una tarjeta micro SD de 64GB para almacenar los videos. Es muy importante destacar que este precio incluye tanto la instalación técnica como la garantía oficial de Router. Tengan en consideración que la vigencia de esta promoción es limitada y vencerá de forma impostergable el 15 de julio de 2026. Si desean coordinar, pueden agendar desde ya al WhatsApp que aparece en pantalla: +56 9 7858 9090.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Llegamos al final de esta presentación, pero esto es solo el comienzo de una etapa más segura para todos. Queremos reiterar nuestro más profundo agradecimiento al Gobierno Regional del Biobío por confiar en nosotros y proveer los recursos; a la directiva que no durmió recopilando papeles y empujando el proyecto; y a cada uno de ustedes por su paciencia durante la larga espera y su apoyo activo en la instalación. Como dice nuestro lema final: las cámaras vigilan, pero es la organización vecinal y la solidaridad entre nosotros lo que realmente protege a nuestras familias. ¡Muchas gracias a todos y a disfrutar de un barrio más seguro!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129"/>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4114800"/>
          </a:xfrm>
          <a:prstGeom prst="rect">
            <a:avLst/>
          </a:prstGeom>
          <a:noFill/>
        </p:spPr>
        <p:txBody>
          <a:bodyPr wrap="square" lIns="0" tIns="0" rIns="0" bIns="0">
            <a:spAutoFit/>
          </a:bodyPr>
          <a:lstStyle/>
          <a:p>
            <a:pPr>
              <a:spcAft>
                <a:spcPts val="1200"/>
              </a:spcAft>
              <a:defRPr sz="1500" b="1">
                <a:solidFill>
                  <a:srgbClr val="EA580C"/>
                </a:solidFill>
                <a:latin typeface="Arial"/>
              </a:defRPr>
            </a:pPr>
            <a:r>
              <a:t>FONDO SEGURIDAD CIUDADANA  •  CÓDIGO 2024SCXXXX</a:t>
            </a:r>
          </a:p>
          <a:p>
            <a:pPr>
              <a:spcAft>
                <a:spcPts val="600"/>
              </a:spcAft>
              <a:defRPr sz="5800" b="1">
                <a:solidFill>
                  <a:srgbClr val="FFFFFF"/>
                </a:solidFill>
                <a:latin typeface="Arial"/>
              </a:defRPr>
            </a:pPr>
            <a:r>
              <a:t>PROTEGIENDO VISTA AL MAR</a:t>
            </a:r>
          </a:p>
          <a:p>
            <a:pPr>
              <a:spcAft>
                <a:spcPts val="4500"/>
              </a:spcAft>
              <a:defRPr sz="2400">
                <a:solidFill>
                  <a:srgbClr val="64748B"/>
                </a:solidFill>
                <a:latin typeface="Arial"/>
              </a:defRPr>
            </a:pPr>
            <a:r>
              <a:t>Sistema de Seguridad, Monitoreo y Prevención Comunitaria</a:t>
            </a:r>
          </a:p>
          <a:p>
            <a:pPr>
              <a:spcAft>
                <a:spcPts val="600"/>
              </a:spcAft>
              <a:defRPr sz="1900" b="1">
                <a:solidFill>
                  <a:srgbClr val="FFFFFF"/>
                </a:solidFill>
                <a:latin typeface="Arial"/>
              </a:defRPr>
            </a:pPr>
            <a:r>
              <a:t>ROUTER  •  Tecnología y Seguridad</a:t>
            </a:r>
          </a:p>
          <a:p>
            <a:pPr>
              <a:defRPr sz="1600">
                <a:solidFill>
                  <a:srgbClr val="64748B"/>
                </a:solidFill>
                <a:latin typeface="Arial"/>
              </a:defRPr>
            </a:pPr>
            <a:r>
              <a:t>Presentan: Ricardo Mari  &amp;  Ivan Santos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El Sueño de un Barrio Más Seguro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La Necesidad Comunitaria</a:t>
            </a:r>
          </a:p>
          <a:p>
            <a:pPr>
              <a:spcAft>
                <a:spcPts val="1000"/>
              </a:spcAft>
              <a:defRPr sz="1900">
                <a:solidFill>
                  <a:srgbClr val="0F172A"/>
                </a:solidFill>
              </a:defRPr>
            </a:pPr>
            <a:r>
              <a:t>• Recuperar la tranquilidad en las calles para las familias y niños.</a:t>
            </a:r>
            <a:br/>
            <a:r>
              <a:t>• Implementar disuasión efectiva frente a robos e incivilidades.</a:t>
            </a:r>
            <a:br/>
            <a:r>
              <a:t>• Consolidar la organización vecinal a través de capacitación y tecnología.</a:t>
            </a:r>
            <a:br/>
            <a:r>
              <a:t>• Proveer evidencias confiables en caso de incidentes.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playground.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Crónica de un Logro: Postulación y Espera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33832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3383280" cy="10972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98264" y="1645920"/>
            <a:ext cx="33832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98264" y="1645920"/>
            <a:ext cx="33832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10727" y="1645920"/>
            <a:ext cx="33832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10727" y="1645920"/>
            <a:ext cx="33832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20240"/>
            <a:ext cx="3017520" cy="3840480"/>
          </a:xfrm>
          <a:prstGeom prst="rect">
            <a:avLst/>
          </a:prstGeom>
          <a:noFill/>
        </p:spPr>
        <p:txBody>
          <a:bodyPr wrap="square">
            <a:spAutoFit/>
          </a:bodyPr>
          <a:lstStyle/>
          <a:p>
            <a:pPr>
              <a:spcAft>
                <a:spcPts val="1000"/>
              </a:spcAft>
              <a:defRPr sz="2400" b="1">
                <a:solidFill>
                  <a:srgbClr val="0F172A"/>
                </a:solidFill>
              </a:defRPr>
            </a:pPr>
            <a:r>
              <a:t>1. Postulación (2024)</a:t>
            </a:r>
          </a:p>
          <a:p>
            <a:pPr>
              <a:defRPr sz="1800">
                <a:solidFill>
                  <a:srgbClr val="0F172A"/>
                </a:solidFill>
              </a:defRPr>
            </a:pPr>
            <a:r>
              <a:t>En Abril de 2024, la Junta de Vecinos formaliza la postulación al fondo de Seguridad Ciudadana FNDR 8%.</a:t>
            </a:r>
            <a:br/>
            <a:br/>
            <a:r>
              <a:t>Comienza el proceso administrativo de revisión en el Gobierno Regional.</a:t>
            </a:r>
          </a:p>
        </p:txBody>
      </p:sp>
      <p:sp>
        <p:nvSpPr>
          <p:cNvPr id="11" name="TextBox 10"/>
          <p:cNvSpPr txBox="1"/>
          <p:nvPr/>
        </p:nvSpPr>
        <p:spPr>
          <a:xfrm>
            <a:off x="4581144" y="1920240"/>
            <a:ext cx="3017520" cy="3840480"/>
          </a:xfrm>
          <a:prstGeom prst="rect">
            <a:avLst/>
          </a:prstGeom>
          <a:noFill/>
        </p:spPr>
        <p:txBody>
          <a:bodyPr wrap="square">
            <a:spAutoFit/>
          </a:bodyPr>
          <a:lstStyle/>
          <a:p>
            <a:pPr>
              <a:spcAft>
                <a:spcPts val="1000"/>
              </a:spcAft>
              <a:defRPr sz="2400" b="1">
                <a:solidFill>
                  <a:srgbClr val="9A3412"/>
                </a:solidFill>
              </a:defRPr>
            </a:pPr>
            <a:r>
              <a:t>2. La Larga Espera</a:t>
            </a:r>
          </a:p>
          <a:p>
            <a:pPr>
              <a:defRPr sz="1800">
                <a:solidFill>
                  <a:srgbClr val="0F172A"/>
                </a:solidFill>
              </a:defRPr>
            </a:pPr>
            <a:r>
              <a:t>Retrasos gubernamentales extienden la espera hasta fines de 2025.</a:t>
            </a:r>
            <a:br/>
            <a:br/>
            <a:r>
              <a:t>Router actúa como soporte técnico, explicando los plazos y manteniendo informada y unida a la comunidad.</a:t>
            </a:r>
          </a:p>
        </p:txBody>
      </p:sp>
      <p:sp>
        <p:nvSpPr>
          <p:cNvPr id="12" name="TextBox 11"/>
          <p:cNvSpPr txBox="1"/>
          <p:nvPr/>
        </p:nvSpPr>
        <p:spPr>
          <a:xfrm>
            <a:off x="8293608" y="1920240"/>
            <a:ext cx="3017520" cy="3840480"/>
          </a:xfrm>
          <a:prstGeom prst="rect">
            <a:avLst/>
          </a:prstGeom>
          <a:noFill/>
        </p:spPr>
        <p:txBody>
          <a:bodyPr wrap="square">
            <a:spAutoFit/>
          </a:bodyPr>
          <a:lstStyle/>
          <a:p>
            <a:pPr>
              <a:spcAft>
                <a:spcPts val="1000"/>
              </a:spcAft>
              <a:defRPr sz="2400" b="1">
                <a:solidFill>
                  <a:srgbClr val="EA580C"/>
                </a:solidFill>
              </a:defRPr>
            </a:pPr>
            <a:r>
              <a:t>3. Unión y Triunfo</a:t>
            </a:r>
          </a:p>
          <a:p>
            <a:pPr>
              <a:defRPr sz="1800">
                <a:solidFill>
                  <a:srgbClr val="0F172A"/>
                </a:solidFill>
              </a:defRPr>
            </a:pPr>
            <a:r>
              <a:t>Al ver la solidez de Router, la comunidad confía y aporta documentación ágilmente ante nuevos requerimientos.</a:t>
            </a:r>
            <a:br/>
            <a:br/>
            <a:r>
              <a:t>Fondos aprobados a fines de 2025 y transferidos en Feb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¿Cómo se Invirtieron los Recursos del Fondo?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Distribución del Presupuesto Total ($7.000.000)</a:t>
            </a:r>
          </a:p>
          <a:p>
            <a:pPr>
              <a:defRPr sz="1800">
                <a:solidFill>
                  <a:srgbClr val="0F172A"/>
                </a:solidFill>
              </a:defRPr>
            </a:pPr>
            <a:r>
              <a:t>• EQUIPAMIENTO (80.0%): $5.600.000 CLP</a:t>
            </a:r>
            <a:br/>
            <a:r>
              <a:t>  Adquisición e instalación de las 16 cámaras IP, red streaming e infraestructura.</a:t>
            </a:r>
            <a:br/>
            <a:br/>
            <a:r>
              <a:t>• GASTOS GENERALES (15.7%): $1.100.000 CLP</a:t>
            </a:r>
            <a:br/>
            <a:r>
              <a:t>  Papelería, difusión, coffee breaks para talleres y el catering/banquetes del evento de cierre.</a:t>
            </a:r>
            <a:br/>
            <a:br/>
            <a:r>
              <a:t>• RECURSOS HUMANOS (4.3%): $300.000 CLP</a:t>
            </a:r>
            <a:br/>
            <a:r>
              <a:t>  Honorarios profesionales de experto en seguridad y prevención de riesgos.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6492240" y="2011680"/>
          <a:ext cx="4663440"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El Factor Humano: Capacitación y Prevención</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Charlas de Seguridad y Prevención</a:t>
            </a:r>
          </a:p>
          <a:p>
            <a:pPr>
              <a:defRPr sz="1800">
                <a:solidFill>
                  <a:srgbClr val="0F172A"/>
                </a:solidFill>
              </a:defRPr>
            </a:pPr>
            <a:r>
              <a:t>• Experto Técnico a Cargo:</a:t>
            </a:r>
            <a:br/>
            <a:r>
              <a:t>  Ingeniero en Prevención de Riesgos o ex-miembro de las Fuerzas Armadas especialista en seguridad ($300.000 CLP en total).</a:t>
            </a:r>
            <a:br/>
            <a:br/>
            <a:r>
              <a:t>• Charlas de Capacitación Comunitaria:</a:t>
            </a:r>
            <a:br/>
            <a:r>
              <a:t>  Enfocadas en autocuidado vecinal, prevención del delito en espacios comunes y uso responsable del sistema.</a:t>
            </a:r>
            <a:br/>
            <a:br/>
            <a:r>
              <a:t>• Integración y Coffee Break:</a:t>
            </a:r>
            <a:br/>
            <a:r>
              <a:t>  Espacios de conversación para fortalecer la organización y cohesión entre vecinos.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ecinos_alessandri.pn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Equipamiento Tecnológico de Alta Gama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Ficha Técnica: Cámaras IP Bullet</a:t>
            </a:r>
          </a:p>
          <a:p>
            <a:pPr>
              <a:spcAft>
                <a:spcPts val="1000"/>
              </a:spcAft>
              <a:defRPr sz="1900">
                <a:solidFill>
                  <a:srgbClr val="0F172A"/>
                </a:solidFill>
              </a:defRPr>
            </a:pPr>
            <a:r>
              <a:t>• Alta Resolución: Imágenes de 4 Megapíxeles.</a:t>
            </a:r>
            <a:br/>
            <a:r>
              <a:t>• Visión Nocturna: Infrarrojo Smart Hybrid Light hasta 60m.</a:t>
            </a:r>
            <a:br/>
            <a:r>
              <a:t>• Micrófono: Audio ambiental de alta sensibilidad.</a:t>
            </a:r>
            <a:br/>
            <a:r>
              <a:t>• Enfoque Remoto: Lente varifocal motorizada.</a:t>
            </a:r>
            <a:br/>
            <a:r>
              <a:t>• Resistencia Climática: Certificación exterior IP67.</a:t>
            </a:r>
            <a:br/>
            <a:r>
              <a:t>• Calidad de Enlace: Cable de cobre UTP Categoría 5 puro.</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camera_red_wall.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Instalación Innovadora Vía Streaming</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200"/>
              </a:spcAft>
              <a:defRPr sz="2600" b="1">
                <a:solidFill>
                  <a:srgbClr val="9A3412"/>
                </a:solidFill>
              </a:defRPr>
            </a:pPr>
            <a:r>
              <a:t>Red Inalámbrica Avanzada</a:t>
            </a:r>
          </a:p>
          <a:p>
            <a:pPr>
              <a:defRPr sz="1900">
                <a:solidFill>
                  <a:srgbClr val="0F172A"/>
                </a:solidFill>
              </a:defRPr>
            </a:pPr>
            <a:r>
              <a:t>• Enlaces Streaming de Alta Velocidad: Conectan las 16 cámaras de forma inalámbrica centralizada.</a:t>
            </a:r>
            <a:br/>
            <a:br/>
            <a:r>
              <a:t>• Cero Roturas de Calles: Se evitó romper veredas o pavimentos del barrio, eliminando costos excesivos de obra civil.</a:t>
            </a:r>
            <a:br/>
            <a:br/>
            <a:r>
              <a:t>• Precedente Regional/Nacional: Primera instalación de esta naturaleza técnica en la provincia.</a:t>
            </a:r>
            <a:br/>
            <a:br/>
            <a:r>
              <a:t>• Clima Favorable: El buen clima del sector permitió un montaje rápido y seguro en postes estratégicos.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d_streaming.pn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Mapa de Ubicación: Cobertura Vecinal</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Distribución Estratégica</a:t>
            </a:r>
          </a:p>
          <a:p>
            <a:pPr>
              <a:defRPr sz="1800">
                <a:solidFill>
                  <a:srgbClr val="0F172A"/>
                </a:solidFill>
              </a:defRPr>
            </a:pPr>
            <a:r>
              <a:t>• 16 Cámaras IP Bullet:</a:t>
            </a:r>
            <a:br/>
            <a:r>
              <a:t>  Distribuidas de manera uniforme para maximizar la cobertura en todos los accesos principales, pasajes internos y áreas comunes de la población Eduardo Frei Montalva.</a:t>
            </a:r>
            <a:br/>
            <a:br/>
            <a:r>
              <a:t>• Puntos Críticos de Vigilancia:</a:t>
            </a:r>
            <a:br/>
            <a:r>
              <a:t>  Resguardo y monitoreo continuo de vías clave como Barros Arana, Francisco Bilbao y Rigoberto Iglesias.</a:t>
            </a:r>
            <a:br/>
            <a:br/>
            <a:r>
              <a:t>• Visualización Clara:</a:t>
            </a:r>
            <a:br/>
            <a:r>
              <a:t>  Permite a los vecinos identificar con total precisión el campo visual y los sectores cubiertos para coordinar la prevención vecinal.</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apa_camaras.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Visualización en Vivo: Monitoreo en Áreas Comunes</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Espacios Comunes Protegidos</a:t>
            </a:r>
          </a:p>
          <a:p>
            <a:pPr>
              <a:defRPr sz="1900">
                <a:solidFill>
                  <a:srgbClr val="0F172A"/>
                </a:solidFill>
              </a:defRPr>
            </a:pPr>
            <a:r>
              <a:t>• Sector Juegos y Multicancha:</a:t>
            </a:r>
            <a:br/>
            <a:r>
              <a:t>  Vigilancia constante de los principales puntos de esparcimiento familiar.</a:t>
            </a:r>
            <a:br/>
            <a:br/>
            <a:r>
              <a:t>• Calidad de Visión Nocturna:</a:t>
            </a:r>
            <a:br/>
            <a:r>
              <a:t>  Imágenes reales a color en penumbra e infrarrojo de gran nitidez y amplio rango.</a:t>
            </a:r>
            <a:br/>
            <a:br/>
            <a:r>
              <a:t>• Tranquilidad Comunitaria:</a:t>
            </a:r>
            <a:br/>
            <a:r>
              <a:t>  Resguardo continuo para que niños y jóvenes utilicen la plaza pública de forma segura.</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sta_parque.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Transparencia: Límites Técnicos del Equipamiento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4754880" cy="3840480"/>
          </a:xfrm>
          <a:prstGeom prst="rect">
            <a:avLst/>
          </a:prstGeom>
          <a:noFill/>
        </p:spPr>
        <p:txBody>
          <a:bodyPr wrap="square">
            <a:spAutoFit/>
          </a:bodyPr>
          <a:lstStyle/>
          <a:p>
            <a:pPr>
              <a:spcAft>
                <a:spcPts val="1400"/>
              </a:spcAft>
              <a:defRPr b="1" sz="2400">
                <a:solidFill>
                  <a:srgbClr val="9A3412"/>
                </a:solidFill>
              </a:defRPr>
            </a:pPr>
            <a:r>
              <a:t>Cámaras 4 Megapíxeles Adquiridas</a:t>
            </a:r>
          </a:p>
          <a:p>
            <a:pPr>
              <a:defRPr sz="1900">
                <a:solidFill>
                  <a:srgbClr val="0F172A"/>
                </a:solidFill>
              </a:defRPr>
            </a:pPr>
            <a:r>
              <a:t>• Cobertura: 16 puntos estratégicos protegidos.</a:t>
            </a:r>
            <a:br/>
            <a:br/>
            <a:r>
              <a:t>• Calidad: Videos de alta resolución que registran la escena general, vehículos, colores, modelos y rostros de personas.</a:t>
            </a:r>
            <a:br/>
            <a:br/>
            <a:r>
              <a:t>• Decisión: Priorizar la extensión territorial del sistema de vigilancia para el resguardo de todos los pasajes.</a:t>
            </a:r>
          </a:p>
        </p:txBody>
      </p:sp>
      <p:sp>
        <p:nvSpPr>
          <p:cNvPr id="9" name="TextBox 8"/>
          <p:cNvSpPr txBox="1"/>
          <p:nvPr/>
        </p:nvSpPr>
        <p:spPr>
          <a:xfrm>
            <a:off x="6400800" y="1920240"/>
            <a:ext cx="4754880" cy="3840480"/>
          </a:xfrm>
          <a:prstGeom prst="rect">
            <a:avLst/>
          </a:prstGeom>
          <a:noFill/>
        </p:spPr>
        <p:txBody>
          <a:bodyPr wrap="square">
            <a:spAutoFit/>
          </a:bodyPr>
          <a:lstStyle/>
          <a:p>
            <a:pPr>
              <a:spcAft>
                <a:spcPts val="1400"/>
              </a:spcAft>
              <a:defRPr b="1" sz="2400">
                <a:solidFill>
                  <a:srgbClr val="EA580C"/>
                </a:solidFill>
              </a:defRPr>
            </a:pPr>
            <a:r>
              <a:t>Lector de Patentes (Tecnología LPR)</a:t>
            </a:r>
          </a:p>
          <a:p>
            <a:pPr>
              <a:defRPr sz="1900">
                <a:solidFill>
                  <a:srgbClr val="0F172A"/>
                </a:solidFill>
              </a:defRPr>
            </a:pPr>
            <a:r>
              <a:t>• Limitación: NO incluido en este equipamiento.</a:t>
            </a:r>
            <a:br/>
            <a:br/>
            <a:r>
              <a:t>• Factor de Costo: Un solo sistema LPR real y homologado de lectura automatizada cuesta 10 veces más que una cámara estándar.</a:t>
            </a:r>
            <a:br/>
            <a:br/>
            <a:r>
              <a:t>• Impacto Presupuestario: Elegir LPR habría limitado la protección a una sola esquina de la población, dejando al resto de la comunidad sin resguardo.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Estrategia de Grabación para Máxima Utilidad</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Calidad sobre Cantidad de Días</a:t>
            </a:r>
          </a:p>
          <a:p>
            <a:pPr>
              <a:defRPr sz="1900">
                <a:solidFill>
                  <a:srgbClr val="0F172A"/>
                </a:solidFill>
              </a:defRPr>
            </a:pPr>
            <a:r>
              <a:t>• Capacidad Técnica: Cada cámara cuenta con memoria SD de 64GB y puede grabar hasta 15 días continuos en baja calidad.</a:t>
            </a:r>
            <a:br/>
            <a:br/>
            <a:r>
              <a:t>• Ajuste Adoptado: El almacenamiento central está configurado exactamente para 5 días continuos de video.</a:t>
            </a:r>
            <a:br/>
            <a:br/>
            <a:r>
              <a:t>• Justificación de Router: Al concentrar los 64GB en 5 días, podemos transmitir y grabar en la máxima nitidez y fotogramas por segundo (FPS). Esto permite que el video sirva como evidencia útil de rostros e incidentes.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6492240" y="2011680"/>
          <a:ext cx="4663440"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Custodia Vecinal y Resguardo del Sistema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Custodia y Nexo Vecinal</a:t>
            </a:r>
          </a:p>
          <a:p>
            <a:pPr>
              <a:defRPr sz="1900">
                <a:solidFill>
                  <a:srgbClr val="0F172A"/>
                </a:solidFill>
              </a:defRPr>
            </a:pPr>
            <a:r>
              <a:t>• Encargado Designado: Encargado de Seguridad Vecinal designado por la directiva.</a:t>
            </a:r>
            <a:br/>
            <a:br/>
            <a:r>
              <a:t>• Funciones Clave:</a:t>
            </a:r>
            <a:br/>
            <a:r>
              <a:t>  - Custodiar físicamente y resguardar la central de monitoreo.</a:t>
            </a:r>
            <a:br/>
            <a:r>
              <a:t>  - Servir de nexo técnico oficial con la Directiva.</a:t>
            </a:r>
            <a:br/>
            <a:r>
              <a:t>  - Resguardar bajo estricta confidencialidad los datos y grabaciones para proteger la privacidad de los vecinos.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neighbors.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Protocolo de Seguridad y Privacidad</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¿Cuándo se Activa el Protocolo?</a:t>
            </a:r>
          </a:p>
          <a:p>
            <a:pPr>
              <a:defRPr sz="1900">
                <a:solidFill>
                  <a:srgbClr val="0F172A"/>
                </a:solidFill>
              </a:defRPr>
            </a:pPr>
            <a:r>
              <a:t>• Eventos Delictuales: Sospecha fundada o comisión de delitos (robos, asaltos, hurtos).</a:t>
            </a:r>
            <a:br/>
            <a:br/>
            <a:r>
              <a:t>• Daños Materiales: Daños o vandalismo en bienes comunes o propiedad de los vecinos.</a:t>
            </a:r>
            <a:br/>
            <a:br/>
            <a:r>
              <a:t>• Accidentes Viales: Choques o atropellos dentro del sector de la población.</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20240"/>
            <a:ext cx="4754880" cy="3840480"/>
          </a:xfrm>
          <a:prstGeom prst="rect">
            <a:avLst/>
          </a:prstGeom>
          <a:noFill/>
        </p:spPr>
        <p:txBody>
          <a:bodyPr wrap="square">
            <a:spAutoFit/>
          </a:bodyPr>
          <a:lstStyle/>
          <a:p>
            <a:pPr>
              <a:spcAft>
                <a:spcPts val="1400"/>
              </a:spcAft>
              <a:defRPr sz="2600" b="1">
                <a:solidFill>
                  <a:srgbClr val="EA580C"/>
                </a:solidFill>
              </a:defRPr>
            </a:pPr>
            <a:r>
              <a:t>Límites Técnicos y de Privacidad</a:t>
            </a:r>
          </a:p>
          <a:p>
            <a:pPr>
              <a:defRPr sz="1900">
                <a:solidFill>
                  <a:srgbClr val="0F172A"/>
                </a:solidFill>
              </a:defRPr>
            </a:pPr>
            <a:r>
              <a:t>• Espacio Público: Orientación exclusiva de las lentes hacia calles, veredas y pasajes públicos.</a:t>
            </a:r>
            <a:br/>
            <a:br/>
            <a:r>
              <a:t>• Privacidad Hogareña: Calibración estricta para evitar la captación de patios interiores y ventanas de los vecinos.</a:t>
            </a:r>
            <a:br/>
            <a:br/>
            <a:r>
              <a:t>• Uso Restringido: Queda estrictamente prohibido utilizar grabaciones para fines de esparcimiento o no autorizados.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Pasos Formales de Solicitud (Protocolo)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3931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931920"/>
            <a:ext cx="5212080" cy="10972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3931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3931920"/>
            <a:ext cx="5212080" cy="109728"/>
          </a:xfrm>
          <a:prstGeom prst="rect">
            <a:avLst/>
          </a:prstGeom>
          <a:solidFill>
            <a:srgbClr val="1C2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874519"/>
            <a:ext cx="4846320" cy="1737360"/>
          </a:xfrm>
          <a:prstGeom prst="rect">
            <a:avLst/>
          </a:prstGeom>
          <a:noFill/>
        </p:spPr>
        <p:txBody>
          <a:bodyPr wrap="square">
            <a:spAutoFit/>
          </a:bodyPr>
          <a:lstStyle/>
          <a:p>
            <a:pPr>
              <a:defRPr b="1" sz="2000">
                <a:solidFill>
                  <a:srgbClr val="9A3412"/>
                </a:solidFill>
              </a:defRPr>
            </a:pPr>
            <a:r>
              <a:t>Paso 1: Solicitud formal a la Directiva</a:t>
            </a:r>
          </a:p>
          <a:p>
            <a:pPr>
              <a:spcBef>
                <a:spcPts val="400"/>
              </a:spcBef>
              <a:defRPr sz="1600">
                <a:solidFill>
                  <a:srgbClr val="0F172A"/>
                </a:solidFill>
              </a:defRPr>
            </a:pPr>
            <a:r>
              <a:t>El vecino afectado formaliza su solicitud a la directiva por escrito o a través del WhatsApp institucional. No debe acudir directamente al cuidador técnico.</a:t>
            </a:r>
          </a:p>
        </p:txBody>
      </p:sp>
      <p:sp>
        <p:nvSpPr>
          <p:cNvPr id="13" name="TextBox 12"/>
          <p:cNvSpPr txBox="1"/>
          <p:nvPr/>
        </p:nvSpPr>
        <p:spPr>
          <a:xfrm>
            <a:off x="6400800" y="1874519"/>
            <a:ext cx="4846320" cy="1737360"/>
          </a:xfrm>
          <a:prstGeom prst="rect">
            <a:avLst/>
          </a:prstGeom>
          <a:noFill/>
        </p:spPr>
        <p:txBody>
          <a:bodyPr wrap="square">
            <a:spAutoFit/>
          </a:bodyPr>
          <a:lstStyle/>
          <a:p>
            <a:pPr>
              <a:defRPr b="1" sz="2000">
                <a:solidFill>
                  <a:srgbClr val="EA580C"/>
                </a:solidFill>
              </a:defRPr>
            </a:pPr>
            <a:r>
              <a:t>Paso 2: Datos Técnicos Requeridos</a:t>
            </a:r>
          </a:p>
          <a:p>
            <a:pPr>
              <a:spcBef>
                <a:spcPts val="400"/>
              </a:spcBef>
              <a:defRPr sz="1600">
                <a:solidFill>
                  <a:srgbClr val="0F172A"/>
                </a:solidFill>
              </a:defRPr>
            </a:pPr>
            <a:r>
              <a:t>Especificar detalladamente: fecha del incidente, rango de hora aproximado y ubicación exacta o cámara más cercana al suceso.</a:t>
            </a:r>
          </a:p>
        </p:txBody>
      </p:sp>
      <p:sp>
        <p:nvSpPr>
          <p:cNvPr id="14" name="TextBox 13"/>
          <p:cNvSpPr txBox="1"/>
          <p:nvPr/>
        </p:nvSpPr>
        <p:spPr>
          <a:xfrm>
            <a:off x="868680" y="4160520"/>
            <a:ext cx="4846320" cy="1737360"/>
          </a:xfrm>
          <a:prstGeom prst="rect">
            <a:avLst/>
          </a:prstGeom>
          <a:noFill/>
        </p:spPr>
        <p:txBody>
          <a:bodyPr wrap="square">
            <a:spAutoFit/>
          </a:bodyPr>
          <a:lstStyle/>
          <a:p>
            <a:pPr>
              <a:defRPr b="1" sz="2000">
                <a:solidFill>
                  <a:srgbClr val="64748B"/>
                </a:solidFill>
              </a:defRPr>
            </a:pPr>
            <a:r>
              <a:t>Paso 3: Extracción y Envío por WhatsApp</a:t>
            </a:r>
          </a:p>
          <a:p>
            <a:pPr>
              <a:spcBef>
                <a:spcPts val="400"/>
              </a:spcBef>
              <a:defRPr sz="1600">
                <a:solidFill>
                  <a:srgbClr val="0F172A"/>
                </a:solidFill>
              </a:defRPr>
            </a:pPr>
            <a:r>
              <a:t>La directiva aprueba y canaliza la solicitud con el Custodio Técnico, quien extrae el fragmento de video y lo envía de forma segura vía WhatsApp.</a:t>
            </a:r>
          </a:p>
        </p:txBody>
      </p:sp>
      <p:sp>
        <p:nvSpPr>
          <p:cNvPr id="15" name="TextBox 14"/>
          <p:cNvSpPr txBox="1"/>
          <p:nvPr/>
        </p:nvSpPr>
        <p:spPr>
          <a:xfrm>
            <a:off x="6400800" y="4160520"/>
            <a:ext cx="4846320" cy="1737360"/>
          </a:xfrm>
          <a:prstGeom prst="rect">
            <a:avLst/>
          </a:prstGeom>
          <a:noFill/>
        </p:spPr>
        <p:txBody>
          <a:bodyPr wrap="square">
            <a:spAutoFit/>
          </a:bodyPr>
          <a:lstStyle/>
          <a:p>
            <a:pPr>
              <a:defRPr b="1" sz="2000">
                <a:solidFill>
                  <a:srgbClr val="1C2129"/>
                </a:solidFill>
              </a:defRPr>
            </a:pPr>
            <a:r>
              <a:t>Límite Crítico: Plazo de 5 Días</a:t>
            </a:r>
          </a:p>
          <a:p>
            <a:pPr>
              <a:spcBef>
                <a:spcPts val="400"/>
              </a:spcBef>
              <a:defRPr sz="1600">
                <a:solidFill>
                  <a:srgbClr val="0F172A"/>
                </a:solidFill>
              </a:defRPr>
            </a:pPr>
            <a:r>
              <a:t>IMPORTANTE: Realizar el requerimiento antes de cumplirse los 5 días del hecho. Posterior a esto, el almacenamiento se sobrescribirá.</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Aclarando Dudas Frecuentes (FAQ)</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754880" cy="4023360"/>
          </a:xfrm>
          <a:prstGeom prst="rect">
            <a:avLst/>
          </a:prstGeom>
          <a:noFill/>
        </p:spPr>
        <p:txBody>
          <a:bodyPr wrap="square">
            <a:spAutoFit/>
          </a:bodyPr>
          <a:lstStyle/>
          <a:p>
            <a:pPr>
              <a:spcAft>
                <a:spcPts val="200"/>
              </a:spcAft>
              <a:defRPr b="1" sz="2200">
                <a:solidFill>
                  <a:srgbClr val="9A3412"/>
                </a:solidFill>
              </a:defRPr>
            </a:pPr>
            <a:r>
              <a:t>¿Quién financia la electricidad?</a:t>
            </a:r>
          </a:p>
          <a:p>
            <a:pPr>
              <a:spcAft>
                <a:spcPts val="1000"/>
              </a:spcAft>
              <a:defRPr sz="1700">
                <a:solidFill>
                  <a:srgbClr val="0F172A"/>
                </a:solidFill>
              </a:defRPr>
            </a:pPr>
            <a:r>
              <a:t>Costo mensual de $1.200 pesos de electricidad por cámara, asumido por los vecinos que apoyaron en el proyecto (quienes facilitaron la conexión eléctrica).</a:t>
            </a:r>
          </a:p>
          <a:p>
            <a:pPr>
              <a:spcAft>
                <a:spcPts val="200"/>
              </a:spcAft>
              <a:defRPr b="1" sz="2200">
                <a:solidFill>
                  <a:srgbClr val="9A3412"/>
                </a:solidFill>
              </a:defRPr>
            </a:pPr>
            <a:r>
              <a:t>¿Tiene costo mensual para el vecino?</a:t>
            </a:r>
          </a:p>
          <a:p>
            <a:pPr>
              <a:defRPr sz="1700">
                <a:solidFill>
                  <a:srgbClr val="0F172A"/>
                </a:solidFill>
              </a:defRPr>
            </a:pPr>
            <a:r>
              <a:t>No. El fondo FNDR financió la instalación y Router entrega el equipamiento cerrado y libre de cuotas fijas mensuales ($0 CLP de mantención fija).</a:t>
            </a:r>
          </a:p>
        </p:txBody>
      </p:sp>
      <p:sp>
        <p:nvSpPr>
          <p:cNvPr id="9" name="TextBox 8"/>
          <p:cNvSpPr txBox="1"/>
          <p:nvPr/>
        </p:nvSpPr>
        <p:spPr>
          <a:xfrm>
            <a:off x="6400800" y="1828800"/>
            <a:ext cx="4754880" cy="4023360"/>
          </a:xfrm>
          <a:prstGeom prst="rect">
            <a:avLst/>
          </a:prstGeom>
          <a:noFill/>
        </p:spPr>
        <p:txBody>
          <a:bodyPr wrap="square">
            <a:spAutoFit/>
          </a:bodyPr>
          <a:lstStyle/>
          <a:p>
            <a:pPr>
              <a:spcAft>
                <a:spcPts val="200"/>
              </a:spcAft>
              <a:defRPr b="1" sz="2200">
                <a:solidFill>
                  <a:srgbClr val="EA580C"/>
                </a:solidFill>
              </a:defRPr>
            </a:pPr>
            <a:r>
              <a:t>¿Se transmiten por Internet pública?</a:t>
            </a:r>
          </a:p>
          <a:p>
            <a:pPr>
              <a:spcAft>
                <a:spcPts val="1000"/>
              </a:spcAft>
              <a:defRPr sz="1700">
                <a:solidFill>
                  <a:srgbClr val="0F172A"/>
                </a:solidFill>
              </a:defRPr>
            </a:pPr>
            <a:r>
              <a:t>No. El sistema utiliza una red local de streaming inalámbrico propiedad de la Junta de Vecinos. No se suben clips a redes abiertas o nubes públicas.</a:t>
            </a:r>
          </a:p>
          <a:p>
            <a:pPr>
              <a:spcAft>
                <a:spcPts val="200"/>
              </a:spcAft>
              <a:defRPr b="1" sz="2200">
                <a:solidFill>
                  <a:srgbClr val="EA580C"/>
                </a:solidFill>
              </a:defRPr>
            </a:pPr>
            <a:r>
              <a:t>¿Cada cuánto una mantención?</a:t>
            </a:r>
          </a:p>
          <a:p>
            <a:pPr>
              <a:defRPr sz="1700">
                <a:solidFill>
                  <a:srgbClr val="0F172A"/>
                </a:solidFill>
              </a:defRPr>
            </a:pPr>
            <a:r>
              <a:t>Las mantenciones debieran ser idealmente cada 3 meses para limpiar las cámaras y ver el correcto funcionamiento.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Garantía Oficial del Sistema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4754880" cy="3840480"/>
          </a:xfrm>
          <a:prstGeom prst="rect">
            <a:avLst/>
          </a:prstGeom>
          <a:noFill/>
        </p:spPr>
        <p:txBody>
          <a:bodyPr wrap="square">
            <a:spAutoFit/>
          </a:bodyPr>
          <a:lstStyle/>
          <a:p>
            <a:pPr>
              <a:spcAft>
                <a:spcPts val="1400"/>
              </a:spcAft>
              <a:defRPr b="1" sz="2600">
                <a:solidFill>
                  <a:srgbClr val="9A3412"/>
                </a:solidFill>
              </a:defRPr>
            </a:pPr>
            <a:r>
              <a:t>Cobertura de Garantía Router</a:t>
            </a:r>
          </a:p>
          <a:p>
            <a:pPr>
              <a:defRPr sz="1900">
                <a:solidFill>
                  <a:srgbClr val="0F172A"/>
                </a:solidFill>
              </a:defRPr>
            </a:pPr>
            <a:r>
              <a:t>• Plazo de Cobertura: 6 meses de garantía a partir del primero de mayo.</a:t>
            </a:r>
            <a:br/>
            <a:br/>
            <a:r>
              <a:t>• Alcance Técnico: Contempla cualquier falla técnica del producto o defectos en la instalación del equipamiento realizada por nuestra empresa.</a:t>
            </a:r>
          </a:p>
        </p:txBody>
      </p:sp>
      <p:sp>
        <p:nvSpPr>
          <p:cNvPr id="9" name="TextBox 8"/>
          <p:cNvSpPr txBox="1"/>
          <p:nvPr/>
        </p:nvSpPr>
        <p:spPr>
          <a:xfrm>
            <a:off x="6400800" y="1920240"/>
            <a:ext cx="4754880" cy="3840480"/>
          </a:xfrm>
          <a:prstGeom prst="rect">
            <a:avLst/>
          </a:prstGeom>
          <a:noFill/>
        </p:spPr>
        <p:txBody>
          <a:bodyPr wrap="square">
            <a:spAutoFit/>
          </a:bodyPr>
          <a:lstStyle/>
          <a:p>
            <a:pPr>
              <a:spcAft>
                <a:spcPts val="1400"/>
              </a:spcAft>
              <a:defRPr b="1" sz="2600">
                <a:solidFill>
                  <a:srgbClr val="EA580C"/>
                </a:solidFill>
              </a:defRPr>
            </a:pPr>
            <a:r>
              <a:t>Exclusiones de Cobertura</a:t>
            </a:r>
          </a:p>
          <a:p>
            <a:pPr>
              <a:defRPr sz="1900">
                <a:solidFill>
                  <a:srgbClr val="0F172A"/>
                </a:solidFill>
              </a:defRPr>
            </a:pPr>
            <a:r>
              <a:t>• No Cubierto: No se considera bajo garantía la manipulación indebida, intervenciones de terceros o modificaciones físicas no autorizadas.</a:t>
            </a:r>
            <a:br/>
            <a:br/>
            <a:r>
              <a:t>• Siniestros Excluidos: Daños provocados por vandalismo, robos, sobretensiones eléctricas externas u otros factores climáticos destructivos extremos.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Foro Abierto: Preguntas y Diálogo Vecinal</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10817352"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10817352"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10360152" cy="3657600"/>
          </a:xfrm>
          <a:prstGeom prst="rect">
            <a:avLst/>
          </a:prstGeom>
          <a:noFill/>
        </p:spPr>
        <p:txBody>
          <a:bodyPr wrap="square">
            <a:spAutoFit/>
          </a:bodyPr>
          <a:lstStyle/>
          <a:p>
            <a:pPr algn="ctr">
              <a:spcAft>
                <a:spcPts val="2400"/>
              </a:spcAft>
              <a:defRPr sz="3400" b="1">
                <a:solidFill>
                  <a:srgbClr val="9A3412"/>
                </a:solidFill>
              </a:defRPr>
            </a:pPr>
            <a:r>
              <a:t>Espacio de consultas para la asamblea vecinal</a:t>
            </a:r>
          </a:p>
          <a:p>
            <a:pPr algn="ctr">
              <a:defRPr sz="2400">
                <a:solidFill>
                  <a:srgbClr val="0F172A"/>
                </a:solidFill>
              </a:defRPr>
            </a:pPr>
            <a:r>
              <a:t>Tu opinión y tus dudas son muy importantes.</a:t>
            </a:r>
            <a:br/>
            <a:br/>
            <a:r>
              <a:t>Por favor, levanta la mano y comparte tus inquietudes con la Directiva de la Junta de Vecinos Eduardo Frei Montalva y el Equipo Técnico de Router.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¡Vista al Mar Unida en Redes Sociales!</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3931920"/>
          </a:xfrm>
          <a:prstGeom prst="rect">
            <a:avLst/>
          </a:prstGeom>
          <a:noFill/>
        </p:spPr>
        <p:txBody>
          <a:bodyPr wrap="square">
            <a:spAutoFit/>
          </a:bodyPr>
          <a:lstStyle/>
          <a:p>
            <a:pPr>
              <a:spcAft>
                <a:spcPts val="1200"/>
              </a:spcAft>
              <a:defRPr sz="2600" b="1">
                <a:solidFill>
                  <a:srgbClr val="9A3412"/>
                </a:solidFill>
              </a:defRPr>
            </a:pPr>
            <a:r>
              <a:t>La Seguridad se Construye Comunicando</a:t>
            </a:r>
          </a:p>
          <a:p>
            <a:pPr>
              <a:defRPr sz="1600">
                <a:solidFill>
                  <a:srgbClr val="0F172A"/>
                </a:solidFill>
              </a:defRPr>
            </a:pPr>
            <a:r>
              <a:t>• ¡Síguenos en Redes Sociales! Sigue a Router y mantente informado de consejos y proyectos de seguridad.</a:t>
            </a:r>
            <a:br/>
            <a:br/>
            <a:r>
              <a:t>• Foco Disuasivo: Comparte el video promocional para alertar a extraños que el barrio está protegido.</a:t>
            </a:r>
            <a:br/>
            <a:br/>
            <a:r>
              <a:t>• Viraliza el Proyecto: Comparte el video y actas en tus grupos de pasajes y WhatsApp.</a:t>
            </a:r>
            <a:br/>
            <a:br/>
            <a:r>
              <a:t>Nuestras Redes Oficiales:</a:t>
            </a:r>
            <a:br/>
            <a:r>
              <a:t>  - Instagram: @routersolucionestecnologicas</a:t>
            </a:r>
            <a:br/>
            <a:r>
              <a:t>  - Facebook: /routersolucionestecnologicas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playground_aerial.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BENEFICIO COMUNITARIO</a:t>
            </a:r>
          </a:p>
          <a:p>
            <a:pPr>
              <a:defRPr sz="3800" b="1">
                <a:solidFill>
                  <a:srgbClr val="0F172A"/>
                </a:solidFill>
                <a:latin typeface="Arial"/>
              </a:defRPr>
            </a:pPr>
            <a:r>
              <a:t>Promoción Especial para tu Hogar</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3931920"/>
          </a:xfrm>
          <a:prstGeom prst="rect">
            <a:avLst/>
          </a:prstGeom>
          <a:noFill/>
        </p:spPr>
        <p:txBody>
          <a:bodyPr wrap="square">
            <a:spAutoFit/>
          </a:bodyPr>
          <a:lstStyle/>
          <a:p>
            <a:pPr>
              <a:spcAft>
                <a:spcPts val="600"/>
              </a:spcAft>
              <a:defRPr sz="2600" b="1">
                <a:solidFill>
                  <a:srgbClr val="EA580C"/>
                </a:solidFill>
              </a:defRPr>
            </a:pPr>
            <a:r>
              <a:t>Instalación de 1 Cámara Domiciliaria</a:t>
            </a:r>
          </a:p>
          <a:p>
            <a:pPr>
              <a:spcAft>
                <a:spcPts val="1000"/>
              </a:spcAft>
              <a:defRPr sz="1900" b="1">
                <a:solidFill>
                  <a:srgbClr val="9A3412"/>
                </a:solidFill>
              </a:defRPr>
            </a:pPr>
            <a:r>
              <a:t>Precio Preferencial: $90.000 CLP (Pago Único)</a:t>
            </a:r>
          </a:p>
          <a:p>
            <a:pPr>
              <a:spcAft>
                <a:spcPts val="1200"/>
              </a:spcAft>
              <a:defRPr sz="1500">
                <a:solidFill>
                  <a:srgbClr val="0F172A"/>
                </a:solidFill>
              </a:defRPr>
            </a:pPr>
            <a:r>
              <a:t>• Cámara de Alta Gama: Full HD, visión nocturna, audio.</a:t>
            </a:r>
            <a:br/>
            <a:r>
              <a:t>• Almacenamiento Local: Tarjeta Micro SD de 64GB incluida.</a:t>
            </a:r>
            <a:br/>
            <a:r>
              <a:t>• Todo Incluido: Instalación técnica, configuración y garantía Router.</a:t>
            </a:r>
            <a:br/>
            <a:r>
              <a:t>• Vigencia Limitada: Promoción válida solo hasta el 15 de Julio de 2026.</a:t>
            </a:r>
          </a:p>
        </p:txBody>
      </p:sp>
      <p:sp>
        <p:nvSpPr>
          <p:cNvPr id="7" name="Rounded Rectangle 6"/>
          <p:cNvSpPr/>
          <p:nvPr/>
        </p:nvSpPr>
        <p:spPr>
          <a:xfrm>
            <a:off x="822960" y="4754880"/>
            <a:ext cx="4937760" cy="109728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lIns="137160" rIns="137160"/>
          <a:lstStyle/>
          <a:p>
            <a:pPr algn="ctr">
              <a:spcAft>
                <a:spcPts val="200"/>
              </a:spcAft>
              <a:defRPr b="1" sz="1200">
                <a:solidFill>
                  <a:srgbClr val="16A34A"/>
                </a:solidFill>
              </a:defRPr>
            </a:pPr>
            <a:r>
              <a:t>¡RESERVA TU INSTALACIÓN HOY!</a:t>
            </a:r>
          </a:p>
          <a:p>
            <a:pPr algn="ctr">
              <a:defRPr b="1" sz="2000">
                <a:solidFill>
                  <a:srgbClr val="16A34A"/>
                </a:solidFill>
              </a:defRPr>
            </a:pPr>
            <a:r>
              <a:t>WhatsApp: +56 9 7858 9090</a:t>
            </a:r>
          </a:p>
        </p:txBody>
      </p:sp>
      <p:sp>
        <p:nvSpPr>
          <p:cNvPr id="8" name="Rectangle 7"/>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amera_alessandri.pn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C2129"/>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2743200"/>
          </a:xfrm>
          <a:prstGeom prst="rect">
            <a:avLst/>
          </a:prstGeom>
          <a:noFill/>
        </p:spPr>
        <p:txBody>
          <a:bodyPr wrap="square" lIns="0" tIns="0" rIns="0" bIns="0">
            <a:spAutoFit/>
          </a:bodyPr>
          <a:lstStyle/>
          <a:p>
            <a:pPr>
              <a:spcAft>
                <a:spcPts val="1600"/>
              </a:spcAft>
              <a:defRPr sz="4600" b="1">
                <a:solidFill>
                  <a:srgbClr val="FFFFFF"/>
                </a:solidFill>
                <a:latin typeface="Arial"/>
              </a:defRPr>
            </a:pPr>
            <a:r>
              <a:t>¡JUNTOS HACEMOS UN BARRIO MÁS SEGURO!</a:t>
            </a:r>
          </a:p>
          <a:p>
            <a:pPr>
              <a:defRPr sz="2600" b="1">
                <a:solidFill>
                  <a:srgbClr val="EA580C"/>
                </a:solidFill>
                <a:latin typeface="Arial"/>
              </a:defRPr>
            </a:pPr>
            <a:r>
              <a:t>"La tecnología vigila, pero la comunidad organizada protege."</a:t>
            </a:r>
          </a:p>
        </p:txBody>
      </p:sp>
      <p:sp>
        <p:nvSpPr>
          <p:cNvPr id="4" name="Rectangle 3"/>
          <p:cNvSpPr/>
          <p:nvPr/>
        </p:nvSpPr>
        <p:spPr>
          <a:xfrm>
            <a:off x="1097280" y="3840480"/>
            <a:ext cx="10058400" cy="1828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114800"/>
            <a:ext cx="5029200" cy="2011680"/>
          </a:xfrm>
          <a:prstGeom prst="rect">
            <a:avLst/>
          </a:prstGeom>
          <a:noFill/>
        </p:spPr>
        <p:txBody>
          <a:bodyPr wrap="square" lIns="0" tIns="0" rIns="0" bIns="0">
            <a:spAutoFit/>
          </a:bodyPr>
          <a:lstStyle/>
          <a:p>
            <a:pPr>
              <a:spcAft>
                <a:spcPts val="800"/>
              </a:spcAft>
              <a:defRPr b="1" sz="1600">
                <a:solidFill>
                  <a:srgbClr val="94A3B8"/>
                </a:solidFill>
                <a:latin typeface="Arial"/>
              </a:defRPr>
            </a:pPr>
            <a:r>
              <a:t>AGRADECIMIENTOS ESPECIALES:</a:t>
            </a:r>
          </a:p>
          <a:p>
            <a:pPr>
              <a:defRPr sz="1600">
                <a:solidFill>
                  <a:srgbClr val="64748B"/>
                </a:solidFill>
                <a:latin typeface="Arial"/>
              </a:defRPr>
            </a:pPr>
            <a:r>
              <a:t>• Gobierno Regional del Biobío (GORE Biobío)</a:t>
            </a:r>
            <a:br/>
            <a:r>
              <a:t>• Directiva Junta de Vecinos Población Eduardo Frei Montalva</a:t>
            </a:r>
            <a:br/>
            <a:r>
              <a:t>• A todos los Vecinos y Vecinas de Vista al Mar</a:t>
            </a:r>
          </a:p>
        </p:txBody>
      </p:sp>
      <p:sp>
        <p:nvSpPr>
          <p:cNvPr id="6" name="Rectangle 5"/>
          <p:cNvSpPr/>
          <p:nvPr/>
        </p:nvSpPr>
        <p:spPr>
          <a:xfrm>
            <a:off x="6400800" y="4114800"/>
            <a:ext cx="18288" cy="164592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4114800"/>
            <a:ext cx="4572000" cy="2011680"/>
          </a:xfrm>
          <a:prstGeom prst="rect">
            <a:avLst/>
          </a:prstGeom>
          <a:noFill/>
        </p:spPr>
        <p:txBody>
          <a:bodyPr wrap="square" lIns="0" tIns="0" rIns="0" bIns="0">
            <a:spAutoFit/>
          </a:bodyPr>
          <a:lstStyle/>
          <a:p>
            <a:pPr>
              <a:spcAft>
                <a:spcPts val="800"/>
              </a:spcAft>
              <a:defRPr b="1" sz="1600">
                <a:solidFill>
                  <a:srgbClr val="94A3B8"/>
                </a:solidFill>
                <a:latin typeface="Arial"/>
              </a:defRPr>
            </a:pPr>
            <a:r>
              <a:t>SOCIO TECNOLÓGICO:</a:t>
            </a:r>
          </a:p>
          <a:p>
            <a:pPr>
              <a:spcAft>
                <a:spcPts val="400"/>
              </a:spcAft>
              <a:defRPr b="1" sz="2200">
                <a:solidFill>
                  <a:srgbClr val="16A34A"/>
                </a:solidFill>
                <a:latin typeface="Arial"/>
              </a:defRPr>
            </a:pPr>
            <a:r>
              <a:t>WhatsApp: +56 9 7858 9090</a:t>
            </a:r>
          </a:p>
          <a:p>
            <a:pPr>
              <a:defRPr sz="1600">
                <a:solidFill>
                  <a:srgbClr val="64748B"/>
                </a:solidFill>
                <a:latin typeface="Arial"/>
              </a:defRPr>
            </a:pPr>
            <a:r>
              <a:t>Router • Soluciones Tecnológicas y de Ingeniería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